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2.jpeg" ContentType="image/jpeg"/>
  <Override PartName="/ppt/media/image21.png" ContentType="image/png"/>
  <Override PartName="/ppt/media/image4.png" ContentType="image/png"/>
  <Override PartName="/ppt/media/image12.png" ContentType="image/png"/>
  <Override PartName="/ppt/media/image18.svg" ContentType="image/svg"/>
  <Override PartName="/ppt/media/image5.svg" ContentType="image/svg"/>
  <Override PartName="/ppt/media/image13.svg" ContentType="image/svg"/>
  <Override PartName="/ppt/media/image6.png" ContentType="image/png"/>
  <Override PartName="/ppt/media/image14.png" ContentType="image/png"/>
  <Override PartName="/ppt/media/image7.svg" ContentType="image/svg"/>
  <Override PartName="/ppt/media/image15.svg" ContentType="image/svg"/>
  <Override PartName="/ppt/media/image3.jpeg" ContentType="image/jpeg"/>
  <Override PartName="/ppt/media/image16.png" ContentType="image/png"/>
  <Override PartName="/ppt/media/image8.png" ContentType="image/png"/>
  <Override PartName="/ppt/media/image10.png" ContentType="image/png"/>
  <Override PartName="/ppt/media/image17.png" ContentType="image/png"/>
  <Override PartName="/ppt/media/image1.jpeg" ContentType="image/jpeg"/>
  <Override PartName="/ppt/media/image9.svg" ContentType="image/svg"/>
  <Override PartName="/ppt/media/image11.svg" ContentType="image/svg"/>
  <Override PartName="/ppt/media/image19.png" ContentType="image/png"/>
  <Override PartName="/ppt/media/image20.svg" ContentType="image/sv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move the slide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D152EE84-77BF-4BEF-982E-2A8370BA2120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F8ED5E-DFDB-4524-96A8-E6B8A2013A06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142068D-FD9B-419F-BC21-C96A990FC00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1209FB-CB1C-4855-90C1-F3F5923E2F4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77F634-933E-4FC0-B286-CC4116583669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2644BCC-7461-4629-A8C8-21CBA18DA4AB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49795D-C758-402D-A01F-98D868739B74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02C96E8-7124-4F55-9A27-49C50182F32A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9B95FE-E819-475F-9EF3-9DD917F08977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BBD738-052A-46A0-8635-E876B5E5116D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932DF9-DD59-48E4-A9F7-E3F2523608FA}" type="slidenum">
              <a:rPr b="0" lang="en-US" sz="1200" strike="noStrike" u="none">
                <a:solidFill>
                  <a:schemeClr val="dk1"/>
                </a:solidFill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hape 0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e6de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Shape 1"/>
          <p:cNvSpPr/>
          <p:nvPr/>
        </p:nvSpPr>
        <p:spPr>
          <a:xfrm>
            <a:off x="0" y="0"/>
            <a:ext cx="9143280" cy="5142960"/>
          </a:xfrm>
          <a:prstGeom prst="rect">
            <a:avLst/>
          </a:prstGeom>
          <a:solidFill>
            <a:srgbClr val="fdfb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sv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image" Target="../media/image12.png"/><Relationship Id="rId10" Type="http://schemas.openxmlformats.org/officeDocument/2006/relationships/image" Target="../media/image13.svg"/><Relationship Id="rId11" Type="http://schemas.openxmlformats.org/officeDocument/2006/relationships/image" Target="../media/image14.png"/><Relationship Id="rId12" Type="http://schemas.openxmlformats.org/officeDocument/2006/relationships/image" Target="../media/image15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svg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96080" y="1760040"/>
            <a:ext cx="8151120" cy="8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75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Resolving Complaint Management with AWS Cloud Services</a:t>
            </a:r>
            <a:endParaRPr b="0" lang="en-US" sz="2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96080" y="2929680"/>
            <a:ext cx="8151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Presented by: Batch mates — a scalable, secure, serverless approach to streamline complaint intake, tracking, resolution, and analytics using AWS.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340200" y="646920"/>
            <a:ext cx="4344480" cy="36396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333333"/>
                </a:solidFill>
                <a:uFillTx/>
                <a:latin typeface="Times NR MT Pro"/>
                <a:ea typeface="Times NR MT Pro"/>
              </a:rPr>
              <a:t>APSSDC AWS CLOUD INTERNSHIP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1077120" y="4019040"/>
            <a:ext cx="2921040" cy="106452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Cheyyeti Hemanth kumar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Kakarapalli Teja Venkatesh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Ambati Dolanadh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 </a:t>
            </a:r>
            <a:r>
              <a:rPr b="0" lang="en-US" sz="1600" strike="noStrike" u="none">
                <a:solidFill>
                  <a:srgbClr val="000000"/>
                </a:solidFill>
                <a:uFillTx/>
                <a:latin typeface="Arial"/>
              </a:rPr>
              <a:t>Kalluri Leela Naga Babu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668160" y="3688560"/>
            <a:ext cx="3263040" cy="40968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2100" strike="noStrike" u="none">
                <a:solidFill>
                  <a:srgbClr val="000000"/>
                </a:solidFill>
                <a:uFillTx/>
                <a:latin typeface="ITC Symbol Std Medium"/>
                <a:ea typeface="ITC Symbol Std Medium"/>
              </a:rPr>
              <a:t>Batch mates: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496080" y="1192680"/>
            <a:ext cx="81511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Problem Statement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Text 1"/>
          <p:cNvSpPr/>
          <p:nvPr/>
        </p:nvSpPr>
        <p:spPr>
          <a:xfrm>
            <a:off x="496080" y="1830600"/>
            <a:ext cx="815112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Organizations receive high volumes of complaints across channels (email, web, phone, social). Current workflows are manual, siloed, and slow — causing delayed resolutions, inconsistent records, poor visibility, and low customer satisfaction.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Shape 2"/>
          <p:cNvSpPr/>
          <p:nvPr/>
        </p:nvSpPr>
        <p:spPr>
          <a:xfrm>
            <a:off x="496080" y="2670480"/>
            <a:ext cx="4004280" cy="1279440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round/>
          </a:ln>
          <a:effectLst>
            <a:outerShdw algn="bl" blurRad="101520" dir="2700000" dist="16800" kx="0" ky="0" rotWithShape="0" sx="100000" sy="100000">
              <a:srgbClr val="ccc4b8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642600" y="2817000"/>
            <a:ext cx="37112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000000"/>
                </a:solidFill>
                <a:uFillTx/>
                <a:latin typeface="Noto Serif Medium"/>
                <a:ea typeface="Noto Serif Medium"/>
              </a:rPr>
              <a:t>Challenges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 4"/>
          <p:cNvSpPr/>
          <p:nvPr/>
        </p:nvSpPr>
        <p:spPr>
          <a:xfrm>
            <a:off x="642600" y="3123720"/>
            <a:ext cx="371124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Noto Serif"/>
                <a:ea typeface="Noto Serif"/>
              </a:rPr>
              <a:t>- Fragmented data sources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Noto Serif"/>
                <a:ea typeface="Noto Serif"/>
              </a:rPr>
              <a:t>- Long resolution time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Noto Serif"/>
                <a:ea typeface="Noto Serif"/>
              </a:rPr>
              <a:t>- Lack of audit trails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Shape 5"/>
          <p:cNvSpPr/>
          <p:nvPr/>
        </p:nvSpPr>
        <p:spPr>
          <a:xfrm>
            <a:off x="4642920" y="2670480"/>
            <a:ext cx="4004280" cy="1279440"/>
          </a:xfrm>
          <a:prstGeom prst="roundRect">
            <a:avLst>
              <a:gd name="adj" fmla="val 4652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round/>
          </a:ln>
          <a:effectLst>
            <a:outerShdw algn="bl" blurRad="101520" dir="2700000" dist="16800" kx="0" ky="0" rotWithShape="0" sx="100000" sy="100000">
              <a:srgbClr val="ccc4b8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4789440" y="2817000"/>
            <a:ext cx="37112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000000"/>
                </a:solidFill>
                <a:uFillTx/>
                <a:latin typeface="Noto Serif Medium"/>
                <a:ea typeface="Noto Serif Medium"/>
              </a:rPr>
              <a:t>Goals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 7"/>
          <p:cNvSpPr/>
          <p:nvPr/>
        </p:nvSpPr>
        <p:spPr>
          <a:xfrm>
            <a:off x="4789440" y="3123720"/>
            <a:ext cx="371124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Noto Serif"/>
                <a:ea typeface="Noto Serif"/>
              </a:rPr>
              <a:t>- Centralize intake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Noto Serif"/>
                <a:ea typeface="Noto Serif"/>
              </a:rPr>
              <a:t>- Automate routing &amp; notifications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Noto Serif"/>
                <a:ea typeface="Noto Serif"/>
              </a:rPr>
              <a:t>- Provide analytics and auditability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0"/>
          <p:cNvSpPr/>
          <p:nvPr/>
        </p:nvSpPr>
        <p:spPr>
          <a:xfrm>
            <a:off x="496080" y="935280"/>
            <a:ext cx="8151120" cy="7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Our Solution: An AWS-Powered Complaint Management System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496080" y="1927800"/>
            <a:ext cx="8151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We built a serverless platform on AWS that centralizes complaint intake, enables automated triage and routing, provides a real-time admin dashboard, and stores immutable logs for compliance.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" name="Image 0" descr="preencoded.png"/>
          <p:cNvPicPr/>
          <p:nvPr/>
        </p:nvPicPr>
        <p:blipFill>
          <a:blip r:embed="rId1"/>
          <a:stretch/>
        </p:blipFill>
        <p:spPr>
          <a:xfrm>
            <a:off x="496080" y="2540880"/>
            <a:ext cx="753120" cy="94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Text 2"/>
          <p:cNvSpPr/>
          <p:nvPr/>
        </p:nvSpPr>
        <p:spPr>
          <a:xfrm>
            <a:off x="1427040" y="2540880"/>
            <a:ext cx="16675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Unified Intake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1427040" y="2847240"/>
            <a:ext cx="1667520" cy="136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Multi-channel capture (web forms, email, phone transcripts, social) funnels into a single API endpoint for consistent processing.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" name="Image 1" descr="preencoded.png"/>
          <p:cNvPicPr/>
          <p:nvPr/>
        </p:nvPicPr>
        <p:blipFill>
          <a:blip r:embed="rId2"/>
          <a:stretch/>
        </p:blipFill>
        <p:spPr>
          <a:xfrm>
            <a:off x="3272400" y="2540880"/>
            <a:ext cx="753120" cy="94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4"/>
          <p:cNvSpPr/>
          <p:nvPr/>
        </p:nvSpPr>
        <p:spPr>
          <a:xfrm>
            <a:off x="4203360" y="2540880"/>
            <a:ext cx="16675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Automated Triage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Text 5"/>
          <p:cNvSpPr/>
          <p:nvPr/>
        </p:nvSpPr>
        <p:spPr>
          <a:xfrm>
            <a:off x="4203360" y="2847240"/>
            <a:ext cx="1667520" cy="113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Lambda functions apply business rules and sentiment analysis to prioritize and assign cases automatically.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1" name="Image 2" descr="preencoded.png"/>
          <p:cNvPicPr/>
          <p:nvPr/>
        </p:nvPicPr>
        <p:blipFill>
          <a:blip r:embed="rId3"/>
          <a:stretch/>
        </p:blipFill>
        <p:spPr>
          <a:xfrm>
            <a:off x="6048720" y="2540880"/>
            <a:ext cx="753120" cy="94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6"/>
          <p:cNvSpPr/>
          <p:nvPr/>
        </p:nvSpPr>
        <p:spPr>
          <a:xfrm>
            <a:off x="6979680" y="2540880"/>
            <a:ext cx="166752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Insights &amp; Reporting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Text 7"/>
          <p:cNvSpPr/>
          <p:nvPr/>
        </p:nvSpPr>
        <p:spPr>
          <a:xfrm>
            <a:off x="6979680" y="3068640"/>
            <a:ext cx="1667520" cy="90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Aggregate metrics and trends drive continuous improvement and faster resolution times.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96080" y="619920"/>
            <a:ext cx="81511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Key Features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496080" y="1421640"/>
            <a:ext cx="70200" cy="70200"/>
          </a:xfrm>
          <a:prstGeom prst="ellipse">
            <a:avLst/>
          </a:prstGeom>
          <a:solidFill>
            <a:srgbClr val="e6de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rIns="3492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Text 2"/>
          <p:cNvSpPr/>
          <p:nvPr/>
        </p:nvSpPr>
        <p:spPr>
          <a:xfrm>
            <a:off x="708840" y="1346400"/>
            <a:ext cx="36896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Real-time Case Tracking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708840" y="1709640"/>
            <a:ext cx="36896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Live status updates, SLA timers, and activity history.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Shape 4"/>
          <p:cNvSpPr/>
          <p:nvPr/>
        </p:nvSpPr>
        <p:spPr>
          <a:xfrm>
            <a:off x="496080" y="2295360"/>
            <a:ext cx="70200" cy="70200"/>
          </a:xfrm>
          <a:prstGeom prst="ellipse">
            <a:avLst/>
          </a:prstGeom>
          <a:solidFill>
            <a:srgbClr val="e6de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rIns="3492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708840" y="2220120"/>
            <a:ext cx="36896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Automated Notifications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708840" y="2583360"/>
            <a:ext cx="368964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Email/SMS/push alerts for customers and agents at each milestone.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496080" y="3395520"/>
            <a:ext cx="70200" cy="70200"/>
          </a:xfrm>
          <a:prstGeom prst="ellipse">
            <a:avLst/>
          </a:prstGeom>
          <a:solidFill>
            <a:srgbClr val="e6de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rIns="3492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708840" y="3320280"/>
            <a:ext cx="36896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Role-based Dashboard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708840" y="3683520"/>
            <a:ext cx="368964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Custom views for agents, supervisors, and auditors.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4749840" y="1421640"/>
            <a:ext cx="70200" cy="70200"/>
          </a:xfrm>
          <a:prstGeom prst="ellipse">
            <a:avLst/>
          </a:prstGeom>
          <a:solidFill>
            <a:srgbClr val="e6de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rIns="3492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4962240" y="1346400"/>
            <a:ext cx="36896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AI-assisted Triage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4962240" y="1709640"/>
            <a:ext cx="368964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Sentiment and keyword extraction to prioritize urgent cases.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Shape 13"/>
          <p:cNvSpPr/>
          <p:nvPr/>
        </p:nvSpPr>
        <p:spPr>
          <a:xfrm>
            <a:off x="4749840" y="2522160"/>
            <a:ext cx="70200" cy="70200"/>
          </a:xfrm>
          <a:prstGeom prst="ellipse">
            <a:avLst/>
          </a:prstGeom>
          <a:solidFill>
            <a:srgbClr val="e6de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rIns="3492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4962240" y="2446920"/>
            <a:ext cx="36896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Immutable Audit Trail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4962240" y="2810160"/>
            <a:ext cx="368964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Secure event logging for compliance and dispute resolution.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0" name="Shape 16"/>
          <p:cNvSpPr/>
          <p:nvPr/>
        </p:nvSpPr>
        <p:spPr>
          <a:xfrm>
            <a:off x="4749840" y="3622320"/>
            <a:ext cx="70200" cy="70200"/>
          </a:xfrm>
          <a:prstGeom prst="ellipse">
            <a:avLst/>
          </a:prstGeom>
          <a:solidFill>
            <a:srgbClr val="e6ded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4920" rIns="34920" tIns="5400" bIns="54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Text 17"/>
          <p:cNvSpPr/>
          <p:nvPr/>
        </p:nvSpPr>
        <p:spPr>
          <a:xfrm>
            <a:off x="4962240" y="3547080"/>
            <a:ext cx="368964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Scalable &amp; Cost-effective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 18"/>
          <p:cNvSpPr/>
          <p:nvPr/>
        </p:nvSpPr>
        <p:spPr>
          <a:xfrm>
            <a:off x="4962240" y="3910320"/>
            <a:ext cx="368964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Serverless design scales automatically and minimizes operational overhead.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496080" y="636120"/>
            <a:ext cx="81511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AWS Services Utilized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496080" y="1273680"/>
            <a:ext cx="86083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Core services selected to build a resilient, serverless complaint management system: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5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96080" y="1659960"/>
            <a:ext cx="353520" cy="35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2"/>
          <p:cNvSpPr/>
          <p:nvPr/>
        </p:nvSpPr>
        <p:spPr>
          <a:xfrm>
            <a:off x="1027800" y="1659960"/>
            <a:ext cx="34549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S3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1027800" y="1966680"/>
            <a:ext cx="34549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Stores attachments, call recordings, and export archives with lifecycle policies.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58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660560" y="1659960"/>
            <a:ext cx="353520" cy="35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Text 4"/>
          <p:cNvSpPr/>
          <p:nvPr/>
        </p:nvSpPr>
        <p:spPr>
          <a:xfrm>
            <a:off x="5191920" y="1659960"/>
            <a:ext cx="34549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Lambda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5191920" y="1966680"/>
            <a:ext cx="34549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Serverless processors for validation, enrichment, triage, and integrations.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1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96080" y="2703600"/>
            <a:ext cx="353520" cy="35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 6"/>
          <p:cNvSpPr/>
          <p:nvPr/>
        </p:nvSpPr>
        <p:spPr>
          <a:xfrm>
            <a:off x="1027800" y="2703600"/>
            <a:ext cx="34549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DynamoDB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1027800" y="3010320"/>
            <a:ext cx="34549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Fast, cost-effective storage of case records, indexes for queries and TTL for retention.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4" name="Image 3" descr="preencoded.png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4660560" y="2703600"/>
            <a:ext cx="353520" cy="35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 8"/>
          <p:cNvSpPr/>
          <p:nvPr/>
        </p:nvSpPr>
        <p:spPr>
          <a:xfrm>
            <a:off x="5191920" y="2703600"/>
            <a:ext cx="34549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API Gateway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5191920" y="3010320"/>
            <a:ext cx="34549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Secure REST endpoints for intake, agent actions, and integrations with throttling and auth.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7" name="Image 4" descr="preencoded.png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496080" y="3747240"/>
            <a:ext cx="353520" cy="35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0"/>
          <p:cNvSpPr/>
          <p:nvPr/>
        </p:nvSpPr>
        <p:spPr>
          <a:xfrm>
            <a:off x="1027800" y="3747240"/>
            <a:ext cx="34549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Cognito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1027800" y="4053960"/>
            <a:ext cx="34549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Authentication and role-based access control for users and administrators.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0" name="Image 5" descr="preencoded.png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4660560" y="3747240"/>
            <a:ext cx="353520" cy="353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12"/>
          <p:cNvSpPr/>
          <p:nvPr/>
        </p:nvSpPr>
        <p:spPr>
          <a:xfrm>
            <a:off x="5191920" y="3747240"/>
            <a:ext cx="345492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CloudWatch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2" name="Text 13"/>
          <p:cNvSpPr/>
          <p:nvPr/>
        </p:nvSpPr>
        <p:spPr>
          <a:xfrm>
            <a:off x="5191920" y="4053960"/>
            <a:ext cx="34549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Monitoring, logs, alarms, and dashboards for operational visibility.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496080" y="397080"/>
            <a:ext cx="8151120" cy="27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Architecture</a:t>
            </a:r>
            <a:endParaRPr b="0" lang="en-US" sz="1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4" name="Image 0" descr="preencoded.png"/>
          <p:cNvPicPr/>
          <p:nvPr/>
        </p:nvPicPr>
        <p:blipFill>
          <a:blip r:embed="rId1"/>
          <a:stretch/>
        </p:blipFill>
        <p:spPr>
          <a:xfrm>
            <a:off x="529560" y="847080"/>
            <a:ext cx="8083800" cy="348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1"/>
          <p:cNvSpPr/>
          <p:nvPr/>
        </p:nvSpPr>
        <p:spPr>
          <a:xfrm>
            <a:off x="1073880" y="3672360"/>
            <a:ext cx="194940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erif Medium"/>
                <a:ea typeface="Noto Serif Medium"/>
              </a:rPr>
              <a:t>DynamoDB &amp; Support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1073880" y="2865240"/>
            <a:ext cx="18334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erif Medium"/>
                <a:ea typeface="Noto Serif Medium"/>
              </a:rPr>
              <a:t>Lambda Validation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1073880" y="2066400"/>
            <a:ext cx="18334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erif Medium"/>
                <a:ea typeface="Noto Serif Medium"/>
              </a:rPr>
              <a:t>API Gateway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1073880" y="1259280"/>
            <a:ext cx="18334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Noto Serif Medium"/>
                <a:ea typeface="Noto Serif Medium"/>
              </a:rPr>
              <a:t>User Channels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496080" y="4430520"/>
            <a:ext cx="8151120" cy="31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19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Serverless flow ensures low-latency intake, near-instant routing, and durable storage. Components are loosely coupled to enable independent scaling and easy maintenance.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496080" y="429120"/>
            <a:ext cx="8151120" cy="33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Administrator Dashboard: Real-time Tracking and Resolution</a:t>
            </a:r>
            <a:endParaRPr b="0" lang="en-US" sz="2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496080" y="2731680"/>
            <a:ext cx="39434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endParaRPr b="0" lang="en-US" sz="105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82" name="Image 0" descr="preencoded.png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317480" y="1105200"/>
            <a:ext cx="2102400" cy="187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2"/>
          <p:cNvSpPr/>
          <p:nvPr/>
        </p:nvSpPr>
        <p:spPr>
          <a:xfrm>
            <a:off x="5288040" y="1206720"/>
            <a:ext cx="161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000000"/>
                </a:solidFill>
                <a:uFillTx/>
                <a:latin typeface="Noto Serif Medium"/>
                <a:ea typeface="Noto Serif Medium"/>
              </a:rPr>
              <a:t>1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Text 3"/>
          <p:cNvSpPr/>
          <p:nvPr/>
        </p:nvSpPr>
        <p:spPr>
          <a:xfrm>
            <a:off x="4471560" y="1645560"/>
            <a:ext cx="1794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Live Queue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Text 4"/>
          <p:cNvSpPr/>
          <p:nvPr/>
        </p:nvSpPr>
        <p:spPr>
          <a:xfrm>
            <a:off x="4471560" y="1985400"/>
            <a:ext cx="1794240" cy="63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Filterable case list with priority, owner, SLA progress, and quick actions.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86" name="Image 1" descr="preencoded.png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549480" y="1105200"/>
            <a:ext cx="2102400" cy="1878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5"/>
          <p:cNvSpPr/>
          <p:nvPr/>
        </p:nvSpPr>
        <p:spPr>
          <a:xfrm>
            <a:off x="7520040" y="1206720"/>
            <a:ext cx="161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000000"/>
                </a:solidFill>
                <a:uFillTx/>
                <a:latin typeface="Noto Serif Medium"/>
                <a:ea typeface="Noto Serif Medium"/>
              </a:rPr>
              <a:t>2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Text 6"/>
          <p:cNvSpPr/>
          <p:nvPr/>
        </p:nvSpPr>
        <p:spPr>
          <a:xfrm>
            <a:off x="6703560" y="1645560"/>
            <a:ext cx="1794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Agent Activity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6703560" y="1985400"/>
            <a:ext cx="1794240" cy="84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Realtime presence, throughput, and response time metrics to balance workloads.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0" name="Image 2" descr="preencoded.png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4317480" y="3112920"/>
            <a:ext cx="4334400" cy="145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8"/>
          <p:cNvSpPr/>
          <p:nvPr/>
        </p:nvSpPr>
        <p:spPr>
          <a:xfrm>
            <a:off x="6404040" y="3214080"/>
            <a:ext cx="161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000000"/>
                </a:solidFill>
                <a:uFillTx/>
                <a:latin typeface="Noto Serif Medium"/>
                <a:ea typeface="Noto Serif Medium"/>
              </a:rPr>
              <a:t>3</a:t>
            </a:r>
            <a:endParaRPr b="0" lang="en-US" sz="12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4471560" y="3653280"/>
            <a:ext cx="40262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Case Timeline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4471560" y="3993120"/>
            <a:ext cx="4026240" cy="42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Full interaction history including attachments, status changes, and notes.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496080" y="894600"/>
            <a:ext cx="81511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Security and Scalability: Built-in AWS Advantages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496080" y="1621080"/>
            <a:ext cx="318240" cy="318240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round/>
          </a:ln>
          <a:effectLst>
            <a:outerShdw algn="bl" blurRad="101520" dir="2700000" dist="16800" kx="0" ky="0" rotWithShape="0" sx="100000" sy="100000">
              <a:srgbClr val="ccc4b8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956880" y="1669680"/>
            <a:ext cx="34416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Security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956880" y="2032920"/>
            <a:ext cx="344160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Data encryption at rest (S3/DynamoDB) and in transit (TLS), fine-grained IAM roles, and Cognito-based authentication.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Shape 4"/>
          <p:cNvSpPr/>
          <p:nvPr/>
        </p:nvSpPr>
        <p:spPr>
          <a:xfrm>
            <a:off x="496080" y="2997000"/>
            <a:ext cx="318240" cy="318240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round/>
          </a:ln>
          <a:effectLst>
            <a:outerShdw algn="bl" blurRad="101520" dir="2700000" dist="16800" kx="0" ky="0" rotWithShape="0" sx="100000" sy="100000">
              <a:srgbClr val="ccc4b8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 5"/>
          <p:cNvSpPr/>
          <p:nvPr/>
        </p:nvSpPr>
        <p:spPr>
          <a:xfrm>
            <a:off x="956880" y="3045600"/>
            <a:ext cx="34416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Compliance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 6"/>
          <p:cNvSpPr/>
          <p:nvPr/>
        </p:nvSpPr>
        <p:spPr>
          <a:xfrm>
            <a:off x="956880" y="3408840"/>
            <a:ext cx="344160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Audit logging with CloudWatch Logs and S3 access logs for traceability and retention policies for records.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Shape 7"/>
          <p:cNvSpPr/>
          <p:nvPr/>
        </p:nvSpPr>
        <p:spPr>
          <a:xfrm>
            <a:off x="4749840" y="1621080"/>
            <a:ext cx="318240" cy="318240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round/>
          </a:ln>
          <a:effectLst>
            <a:outerShdw algn="bl" blurRad="101520" dir="2700000" dist="16800" kx="0" ky="0" rotWithShape="0" sx="100000" sy="100000">
              <a:srgbClr val="ccc4b8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 8"/>
          <p:cNvSpPr/>
          <p:nvPr/>
        </p:nvSpPr>
        <p:spPr>
          <a:xfrm>
            <a:off x="5210280" y="1669680"/>
            <a:ext cx="34416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Scalability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 9"/>
          <p:cNvSpPr/>
          <p:nvPr/>
        </p:nvSpPr>
        <p:spPr>
          <a:xfrm>
            <a:off x="5210280" y="2032920"/>
            <a:ext cx="344160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Lambda concurrency, DynamoDB on-demand or autoscaling, and S3 virtually unlimited storage handle spikes gracefully.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4" name="Shape 10"/>
          <p:cNvSpPr/>
          <p:nvPr/>
        </p:nvSpPr>
        <p:spPr>
          <a:xfrm>
            <a:off x="4749840" y="2997000"/>
            <a:ext cx="318240" cy="318240"/>
          </a:xfrm>
          <a:prstGeom prst="roundRect">
            <a:avLst>
              <a:gd name="adj" fmla="val 18669"/>
            </a:avLst>
          </a:prstGeom>
          <a:solidFill>
            <a:srgbClr val="e6ded2">
              <a:alpha val="50000"/>
            </a:srgbClr>
          </a:solidFill>
          <a:ln w="4763">
            <a:solidFill>
              <a:srgbClr val="ccc4b8"/>
            </a:solidFill>
            <a:round/>
          </a:ln>
          <a:effectLst>
            <a:outerShdw algn="bl" blurRad="101520" dir="2700000" dist="16800" kx="0" ky="0" rotWithShape="0" sx="100000" sy="100000">
              <a:srgbClr val="ccc4b8"/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5" name="Text 11"/>
          <p:cNvSpPr/>
          <p:nvPr/>
        </p:nvSpPr>
        <p:spPr>
          <a:xfrm>
            <a:off x="5210280" y="3045600"/>
            <a:ext cx="344160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Resiliency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 12"/>
          <p:cNvSpPr/>
          <p:nvPr/>
        </p:nvSpPr>
        <p:spPr>
          <a:xfrm>
            <a:off x="5210280" y="3408840"/>
            <a:ext cx="344160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Retry logic, dead-letter queues, and cross-region backups protect availability and durability.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496080" y="1094760"/>
            <a:ext cx="8151120" cy="35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Impact &amp; Benefits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496080" y="1803600"/>
            <a:ext cx="2598480" cy="4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36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50%</a:t>
            </a:r>
            <a:endParaRPr b="0" lang="en-US" sz="3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496080" y="2448360"/>
            <a:ext cx="25984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Faster Resolutions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496080" y="2755080"/>
            <a:ext cx="259848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Automated triage reduces average time-to-first-response dramatically.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3272400" y="1803600"/>
            <a:ext cx="2598480" cy="4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36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30%</a:t>
            </a:r>
            <a:endParaRPr b="0" lang="en-US" sz="3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3272400" y="2448360"/>
            <a:ext cx="25984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Reduced Operational Cost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3272400" y="2755080"/>
            <a:ext cx="259848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Serverless model lowers infrastructure and maintenance expenses.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6048720" y="1803600"/>
            <a:ext cx="2598480" cy="4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83000"/>
              </a:lnSpc>
              <a:tabLst>
                <a:tab algn="l" pos="0"/>
              </a:tabLst>
            </a:pPr>
            <a:r>
              <a:rPr b="0" lang="en-US" sz="36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40%</a:t>
            </a:r>
            <a:endParaRPr b="0" lang="en-US" sz="36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6048720" y="2448360"/>
            <a:ext cx="2598480" cy="22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ctr"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1350" strike="noStrike" u="none">
                <a:solidFill>
                  <a:srgbClr val="4c4c4c"/>
                </a:solidFill>
                <a:uFillTx/>
                <a:latin typeface="Noto Serif Medium"/>
                <a:ea typeface="Noto Serif Medium"/>
              </a:rPr>
              <a:t>Higher Satisfaction</a:t>
            </a:r>
            <a:endParaRPr b="0" lang="en-US" sz="13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6048720" y="2755080"/>
            <a:ext cx="259848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algn="ctr"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Tracking, notifications, and transparency improve CSAT and retention.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496080" y="3594960"/>
            <a:ext cx="8151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Combined, these outcomes translate to measurable improvements in service quality, compliance posture, and operational efficiency.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496080" y="1505160"/>
            <a:ext cx="8151120" cy="44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04000"/>
              </a:lnSpc>
              <a:tabLst>
                <a:tab algn="l" pos="0"/>
              </a:tabLst>
            </a:pPr>
            <a:r>
              <a:rPr b="0" lang="en-US" sz="2750" strike="noStrike" u="none">
                <a:solidFill>
                  <a:srgbClr val="3a3a3a"/>
                </a:solidFill>
                <a:uFillTx/>
                <a:latin typeface="Noto Serif Medium"/>
                <a:ea typeface="Noto Serif Medium"/>
              </a:rPr>
              <a:t>Conclusion &amp; Next Steps</a:t>
            </a:r>
            <a:endParaRPr b="0" lang="en-US" sz="27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496080" y="2231640"/>
            <a:ext cx="8151120" cy="67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4c4c4c"/>
                </a:solidFill>
                <a:uFillTx/>
                <a:latin typeface="Noto Serif"/>
                <a:ea typeface="Noto Serif"/>
              </a:rPr>
              <a:t>We propose a phased rollout: pilot with one business unit → refine rules &amp; ML models → enterprise rollout with monitoring and governance. The AWS serverless stack delivers a secure, scalable, and cost-effective foundation for modern complaint management.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496080" y="3071520"/>
            <a:ext cx="8151120" cy="566280"/>
          </a:xfrm>
          <a:prstGeom prst="roundRect">
            <a:avLst>
              <a:gd name="adj" fmla="val 10502"/>
            </a:avLst>
          </a:prstGeom>
          <a:solidFill>
            <a:srgbClr val="e8e6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21" name="Image 0" descr="preencoded.png"/>
          <p:cNvPicPr/>
          <p:nvPr/>
        </p:nvPicPr>
        <p:blipFill>
          <a:blip r:embed="rId1"/>
          <a:stretch/>
        </p:blipFill>
        <p:spPr>
          <a:xfrm>
            <a:off x="637920" y="3272040"/>
            <a:ext cx="176400" cy="14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Text 3"/>
          <p:cNvSpPr/>
          <p:nvPr/>
        </p:nvSpPr>
        <p:spPr>
          <a:xfrm>
            <a:off x="956880" y="3248640"/>
            <a:ext cx="800568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defTabSz="914400">
              <a:lnSpc>
                <a:spcPct val="133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uFillTx/>
                <a:latin typeface="Noto Serif"/>
                <a:ea typeface="Noto Serif"/>
              </a:rPr>
              <a:t>Next step: Schedule a 2-week pilot to validate intake, routing rules, and dashboard metrics.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LibreOfficeDev/24.8.7.2.0$Android_AARCH64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2026-07-17T04:16:39Z</dcterms:created>
  <dc:creator/>
  <dc:description/>
  <dc:language>en-US</dc:language>
  <cp:lastModifiedBy/>
  <dcterms:modified xsi:type="dcterms:W3CDTF">2026-07-17T09:54:02Z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